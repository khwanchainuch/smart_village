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8686800" y="0"/>
            <a:ext cx="3504895" cy="6858000"/>
          </a:xfrm>
          <a:prstGeom prst="rtTriangl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011680"/>
            <a:ext cx="4572000" cy="54864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00CEA2"/>
                </a:solidFill>
                <a:latin typeface="Kanit"/>
              </a:defRPr>
            </a:pPr>
            <a:r>
              <a:t>SMART VILLAGE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  <a:latin typeface="Kanit"/>
              </a:defRPr>
            </a:pPr>
            <a:r>
              <a:t>แพลตฟอร์มจัดการและขับเคลื่อนสุขภาพและเศรษฐกิจชุมชนอัจฉริยะ</a:t>
            </a:r>
          </a:p>
          <a:p>
            <a:pPr>
              <a:spcBef>
                <a:spcPts val="800"/>
              </a:spcBef>
              <a:defRPr sz="1400">
                <a:solidFill>
                  <a:srgbClr val="B4B4B4"/>
                </a:solidFill>
                <a:latin typeface="Kanit"/>
              </a:defRPr>
            </a:pPr>
            <a:r>
              <a:t>ระบบบริหารจัดการสุขภาวะ วิเคราะห์ความจำเป็นพื้นฐาน และการประสานงานพื้นที่เชิงแผนที่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Kanit"/>
              </a:defRPr>
            </a:pPr>
            <a:r>
              <a:t>คณะเทคโนโลยีสารสนเทศและการสื่อสาร (ICT) มหาวิทยาลัยมหิดล</a:t>
            </a:r>
          </a:p>
          <a:p>
            <a:pPr>
              <a:spcBef>
                <a:spcPts val="400"/>
              </a:spcBef>
              <a:defRPr sz="1100">
                <a:solidFill>
                  <a:srgbClr val="B4B4B4"/>
                </a:solidFill>
                <a:latin typeface="Kanit"/>
              </a:defRPr>
            </a:pPr>
            <a:r>
              <a:t>โครงการพัฒนาเทคโนโลยีสารสนเทศเพื่อการบริหารงานท้องถิ่น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CEA2"/>
                </a:solidFill>
                <a:latin typeface="Kanit"/>
              </a:defRPr>
            </a:pPr>
            <a:r>
              <a:t>SMART VILLAGE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Kanit"/>
              </a:defRPr>
            </a:pPr>
            <a:r>
              <a:t>ปัญหาและความท้าทายในปัจจุบัน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329184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01. ข้อมูลแยกส่วน (Data Silo)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แฟ้มเอกสารและกระดาษ: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ข้อมูลสุขภาพ เศรษฐกิจ และประวัติครัวเรือนถูกบันทึกแยกกันในรูปแบบกระดาษหรือไฟล์สเปรดชีตส่วนบุคคล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การสืบค้นล่าช้า: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เมื่อต้องการข้อมูลด่วนในการประเมินความต้องการการช่วยเหลือในพื้นที่ ต้องใช้เวลาประสานงานค้นหานาน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645920"/>
            <a:ext cx="329184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02. การขาดข้อมูลช่วยตัดสินใจ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ขาดภาพรวม (No Real-time Insight):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ผู้บริหารระดับตำบล อำเภอ หรือจังหวัด ขาดรายงานภาพรวมสุขภาพและตัวชี้วัดเศรษฐกิจแบบปัจจุบัน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การจัดลำดับความสำคัญ: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ไม่มีตัวบ่งชี้วิทยาศาสตร์หรือสถิติที่ชัดเจนว่าหมู่บ้านใดมีปัญหาจำเป็นเร่งด่วนที่สุดในการส่งบุคลากรช่วยเหลื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645920"/>
            <a:ext cx="329184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9" y="18288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03. การลงพื้นที่ที่ไร้ทิศทาง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การเยี่ยมบ้านไม่มีข้อมูลนำ: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ผู้เยี่ยมบ้าน (อสม./เจ้าหน้าที่) ต้องสุ่มเดินตรวจหรือขาดการบันทึกประวัติความเจ็บป่วยย้อนหลังก่อนไปหน้างาน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ขาดการระบุพิกัดเชิงรุก (GIS):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ไม่มีระบบแผนที่ครัวเรือนระบุพิกัดบ้านกลุ่มเปราะบาง เจ็บป่วย หรือยากจน เพื่อติดตามอย่างต่อเนื่อง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CEA2"/>
                </a:solidFill>
                <a:latin typeface="Kanit"/>
              </a:defRPr>
            </a:pPr>
            <a:r>
              <a:t>SMART VILLAGE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Kanit"/>
              </a:defRPr>
            </a:pPr>
            <a:r>
              <a:t>วัตถุประสงค์โครงการ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329184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ระบบสารสนเทศรวมศูนย์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การจัดการข้อมูลสุขภาพและครัวเรือน: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รวบรวมประวัติประชากร ครัวเรือน การเยี่ยมบ้าน ดัชนีเศรษฐกิจ และการฝึกอบรม ไว้ในระบบฐานข้อมูลเดียว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ลดความซ้ำซ้อนของข้อมูล: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ทำงานร่วมกันผ่านเว็บเบราว์เซอร์ ลดขั้นตอนเอกสารกระดาษและไฟล์สูญหาย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645920"/>
            <a:ext cx="329184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ควบคุมสิทธิ์แบบลำดับขั้น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จัดแบ่งผู้ใช้ตามสิทธิ์ปกครอง: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ระบบสิทธิ์เข้าถึง (RBAC) กรองข้อมูลตามหน้าที่รับผิดชอบ (จังหวัด, อำเภอ, ตำบล, หมู่บ้าน)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รักษาความปลอดภัยข้อมูล: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รักษาความลับของประวัติส่วนบุคคล สุขภาพ และรายได้ของผู้ใช้บริการตามสิทธิ์ที่จำกัดเฉพาะพื้นที่ตัวเอง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645920"/>
            <a:ext cx="329184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9" y="18288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สนับสนุนการตัดสินใจเชิงพื้นที่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แผนที่เชิงสารสนเทศ (GIS):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ระบุตำแหน่งครัวเรือน วิเคราะห์สถานะสุขภาพผ่านสีหมุดแผนที่ เพื่ออำนวยความสะดวกในการจัดสรรงบประมาณโครงการ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ปรับปรุงการปฏิบัติงานจริง: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ช่วยสนับสนุนข้อมูลสำหรับเจ้าหน้าที่ลงตรวจคัดกรอง หรือให้ความช่วยเหลือกลุ่มเปราะบางตรงตามจุดพิกัด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CEA2"/>
                </a:solidFill>
                <a:latin typeface="Kanit"/>
              </a:defRPr>
            </a:pPr>
            <a:r>
              <a:t>SMART VILLAGE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Kanit"/>
              </a:defRPr>
            </a:pPr>
            <a:r>
              <a:t>สถาปัตยกรรมระบบและเครื่องมือที่ใช้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42316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2423160" cy="7315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965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FRONTEND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Next.js (React)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เฟรมเวิร์กประสิทธิภาพสูง โครงสร้างแบบ Page Routing รองรับการทำเว็บแบบ Single Page App (SPA)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TypeScript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ลดบัคของตัวแปรและช่วยให้เขียนโค้ดได้อย่างมีโครงสร้าง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TailwindCSS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ช่วยตกแต่ง UI ให้ทันสมัย รองรับความยืดหยุ่นและการทำงานแบบ Responsive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2316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423160" cy="7315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1965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BACKEND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Java Spring Boot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แกนหลักฝั่งเซิร์ฟเวอร์ ออกแบบแบบ REST API ทรงประสิทธิภาพ มั่นคง และรองรับความปลอดภัยข้อมูลสูง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Maven / Spring Data JPA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จัดการ Library และเชื่อมโยงฐานข้อมูลกับ Java Object โดยอัตโนมัติ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242316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2423160" cy="7315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1965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DATABASE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PostgreSQL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ระบบจัดการฐานข้อมูลเชิงสัมพันธ์ระดับองค์กร รองรับการรัน Query ซับซ้อน และการจำกัดสิทธิ์ระดับ Record อย่างมีประสิทธิภาพ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Relational Structure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ออกแบบ ER-Diagram เชื่อมต่อความสัมพันธ์ (1:N, N:M) ของหมู่บ้าน สมาชิก และโครงการ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645920"/>
            <a:ext cx="242316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15400" y="1645920"/>
            <a:ext cx="2423160" cy="7315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828800"/>
            <a:ext cx="1965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GIS &amp; MAP API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Leaflet.js / GIS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Open-source JavaScript Library สำหรับแผนที่เชิงโต้ตอบ ไม่เสียค่าใช้จ่ายแบบ Google Maps API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Geolocation Pins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แปลงละติจูด/ลองจิจูดจากฐานข้อมูล เพื่อปักพิกัดบ้านลงแผนที่และอัปเดตสีตามระดับความเร่งด่วนของสุขภาพ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CEA2"/>
                </a:solidFill>
                <a:latin typeface="Kanit"/>
              </a:defRPr>
            </a:pPr>
            <a:r>
              <a:t>SMART VILLAGE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Kanit"/>
              </a:defRPr>
            </a:pPr>
            <a:r>
              <a:t>ระบบจัดการสิทธิ์และ แดชบอร์ดแบ่งตามระดับชั้น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114800" cy="4297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411480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การกรองข้อมูลด้วย Dynamic Scope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สิทธิ์แบ่งตามระดับพื้นที่ปกครอง: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1. ผู้บริหารระดับจังหวัด: เข้าถึงข้อมูลสรุปและแดชบอร์ดความร่วมมือระดับทุกอำเภอในจังหวัด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2. ผู้รับผิดชอบอำเภอ/ตำบล: กรองเฉพาะหมู่บ้านในขอบเขตสิทธิ์ของตนเอง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3. แอดมินหมู่บ้าน: สิทธิ์เต็มรูปแบบในการ เพิ่ม/แก้ไข/ลบ ข้อมูลครัวเรือน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การคำนวณ SQL Query: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ใช้การกรอง SQL matching กับ scope_id จากประวัติ User ช่วยให้การ query รวดเร็วขึ้น ไม่ต้องดึงข้อมูลทั้งจังหวัดมาประมวลผลทุกครั้ง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645920"/>
            <a:ext cx="6400800" cy="4297680"/>
          </a:xfrm>
          <a:prstGeom prst="rect">
            <a:avLst/>
          </a:prstGeom>
          <a:solidFill>
            <a:srgbClr val="191919"/>
          </a:solidFill>
          <a:ln w="19050">
            <a:solidFill>
              <a:srgbClr val="00C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246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EA2"/>
                </a:solidFill>
                <a:latin typeface="Kanit"/>
              </a:defRPr>
            </a:pPr>
            <a:r>
              <a:t>[ กรุณาใส่รูปภาพ Screenshot ที่นี่ ]</a:t>
            </a:r>
          </a:p>
          <a:p>
            <a:pPr algn="ctr">
              <a:spcBef>
                <a:spcPts val="400"/>
              </a:spcBef>
              <a:defRPr sz="1100">
                <a:solidFill>
                  <a:srgbClr val="B4B4B4"/>
                </a:solidFill>
                <a:latin typeface="Kanit"/>
              </a:defRPr>
            </a:pPr>
            <a:r>
              <a:t>แนะนำ: แคปภาพหน้าเว็บ 'Dashboard หน้าหลัก (ตามสิทธิ์ผู้ใช้งาน)' มาจัดวางครอบในกรอบนี้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CEA2"/>
                </a:solidFill>
                <a:latin typeface="Kanit"/>
              </a:defRPr>
            </a:pPr>
            <a:r>
              <a:t>SMART VILLAGE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Kanit"/>
              </a:defRPr>
            </a:pPr>
            <a:r>
              <a:t>ดัชนีสุขภาพหมู่บ้าน (Village Health Index - VHI)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CEA2"/>
                </a:solidFill>
                <a:latin typeface="Kanit"/>
              </a:defRPr>
            </a:pPr>
            <a:r>
              <a:t>สูตรคำนวณดัชนีสุขภาพหมู่บ้าน VHI (0 - 100 คะแนน)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VHI = ด้านที่ 1 (40%) + ด้านที่ 2 (40%) + ด้านที่ 3 (20%)</a:t>
            </a:r>
          </a:p>
          <a:p>
            <a:pPr>
              <a:defRPr sz="1400" b="1">
                <a:solidFill>
                  <a:srgbClr val="00ADB5"/>
                </a:solidFill>
                <a:latin typeface="Kanit"/>
              </a:defRPr>
            </a:pPr>
            <a:r>
              <a:t>1. สัดส่วนไม่ป่วยเรื้อรัง/ติดเตียง (40 คะแนน)</a:t>
            </a:r>
          </a:p>
          <a:p>
            <a:pPr>
              <a:spcAft>
                <a:spcPts val="1000"/>
              </a:spcAft>
              <a:defRPr sz="1200">
                <a:solidFill>
                  <a:srgbClr val="B4B4B4"/>
                </a:solidFill>
                <a:latin typeface="Courier New"/>
              </a:defRPr>
            </a:pPr>
            <a:r>
              <a:t>   = 40 x ( 1 - [จำนวนผู้ป่วยติดเตียง + ผู้ป่วยโรคเรื้อรัง / จำนวนประชากรทั้งหมด] )</a:t>
            </a:r>
          </a:p>
          <a:p>
            <a:pPr>
              <a:defRPr sz="1400" b="1">
                <a:solidFill>
                  <a:srgbClr val="00ADB5"/>
                </a:solidFill>
                <a:latin typeface="Kanit"/>
              </a:defRPr>
            </a:pPr>
            <a:r>
              <a:t>2. ความครอบคลุมบันทึกสุขภาพภายใน 6 เดือน (40 คะแนน)</a:t>
            </a:r>
          </a:p>
          <a:p>
            <a:pPr>
              <a:spcAft>
                <a:spcPts val="1000"/>
              </a:spcAft>
              <a:defRPr sz="1200">
                <a:solidFill>
                  <a:srgbClr val="B4B4B4"/>
                </a:solidFill>
                <a:latin typeface="Courier New"/>
              </a:defRPr>
            </a:pPr>
            <a:r>
              <a:t>   = 40 x ( จำนวนประชากรที่มีการบันทึกประวัติสุขภาพภายใน 6 เดือน / จำนวนประชากรทั้งหมด )</a:t>
            </a:r>
          </a:p>
          <a:p>
            <a:pPr>
              <a:defRPr sz="1400" b="1">
                <a:solidFill>
                  <a:srgbClr val="00ADB5"/>
                </a:solidFill>
                <a:latin typeface="Kanit"/>
              </a:defRPr>
            </a:pPr>
            <a:r>
              <a:t>3. การตรวจคัดกรอง / เยี่ยมบ้านกลุ่มเสี่ยงภายใน 30 วัน (20 คะแนน)</a:t>
            </a:r>
          </a:p>
          <a:p>
            <a:pPr>
              <a:defRPr sz="1200">
                <a:solidFill>
                  <a:srgbClr val="B4B4B4"/>
                </a:solidFill>
                <a:latin typeface="Courier New"/>
              </a:defRPr>
            </a:pPr>
            <a:r>
              <a:t>   = 20 x ( จำนวนครัวเรือนเสี่ยงที่ถูกเยี่ยมบ้านใน 30 วัน / จำนวนครัวเรือนเสี่ยงทั้งหมด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45920"/>
            <a:ext cx="4114800" cy="4297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1645920"/>
            <a:ext cx="411480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288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เกณฑ์คะแนนสุขภาวะหมู่บ้าน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ดัชนีคะแนนรวม (VHI Score):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🟢 คะแนน &gt;= 80  : สุขภาพระดับ ดีมาก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  หมู่บ้านมีความแข็งแรง แนะนำรักษามาตรฐานที่ดี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🟡 คะแนน 60 - 79 : สุขภาพระดับ ดี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  ประชากรส่วนใหญ่เข้าถึงการบันทึกสุขภาพสมบูรณ์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🟠 คะแนน 40 - 59 : ต้องดูแลใกล้ชิด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  ต้องการการเยี่ยมเยียนกลุ่มเปราะบางเพิ่มเติม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🔴 คะแนน &lt; 40   : สุขภาพระดับ วิกฤต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  ต้องการงบประมาณช่วยเหลือและโครงการฟื้นฟูด่วน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CEA2"/>
                </a:solidFill>
                <a:latin typeface="Kanit"/>
              </a:defRPr>
            </a:pPr>
            <a:r>
              <a:t>SMART VILLAGE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Kanit"/>
              </a:defRPr>
            </a:pPr>
            <a:r>
              <a:t>แผนที่สารสนเทศภูมิศาสตร์ครัวเรือน (GIS Household Mapping)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114800" cy="4297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411480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ฟังก์ชันแผนที่แสดงสถานะสุขภาพ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แผนที่ตอบโต้ (Interactive Leaflet Map):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แสดงพิกัดที่ตั้งของครัวเรือนทั้งหมดในหมู่บ้านที่เลือก เพื่อช่วยให้มองเห็นโครงสร้างพื้นที่และการกระจายตัวเชิงภูมิศาสตร์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การเปลี่ยนสีหมุดตามสุขภาพของบ้าน: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หมุดจะเปลี่ยนสีอัตโนมัติ (เขียว, เหลือง, แดง) ตามผลรวมสุขภาพของสมาชิกภายในบ้าน เพื่อระบุจุดเป้าหมายเปราะบางได้ทันที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ฟีเจอร์ดับเบิลคลิกเจาะลึก (Double-Click Drill-down):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เมื่อดับเบิลคลิกที่หมุดบ้าน ระบบจะนำไปยังหน้ารายการข้อมูลบุคคลในครัวเรือนนั้น เพื่อตรวจประวัติ เพิ่ม ลบ หรือแก้ไขข้อมูลได้ทันที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645920"/>
            <a:ext cx="6400800" cy="4297680"/>
          </a:xfrm>
          <a:prstGeom prst="rect">
            <a:avLst/>
          </a:prstGeom>
          <a:solidFill>
            <a:srgbClr val="191919"/>
          </a:solidFill>
          <a:ln w="19050">
            <a:solidFill>
              <a:srgbClr val="00C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246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EA2"/>
                </a:solidFill>
                <a:latin typeface="Kanit"/>
              </a:defRPr>
            </a:pPr>
            <a:r>
              <a:t>[ กรุณาใส่รูปภาพ Screenshot ที่นี่ ]</a:t>
            </a:r>
          </a:p>
          <a:p>
            <a:pPr algn="ctr">
              <a:spcBef>
                <a:spcPts val="400"/>
              </a:spcBef>
              <a:defRPr sz="1100">
                <a:solidFill>
                  <a:srgbClr val="B4B4B4"/>
                </a:solidFill>
                <a:latin typeface="Kanit"/>
              </a:defRPr>
            </a:pPr>
            <a:r>
              <a:t>แนะนำ: แคปภาพหน้าเว็บ 'แผนที่ครัวเรือนเปลี่ยนสีพินตามเกณฑ์สุขภาพ' มาจัดวางครอบในกรอบนี้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CEA2"/>
                </a:solidFill>
                <a:latin typeface="Kanit"/>
              </a:defRPr>
            </a:pPr>
            <a:r>
              <a:t>SMART VILLAGE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Kanit"/>
              </a:defRPr>
            </a:pPr>
            <a:r>
              <a:t>การจัดการเรื่องร้องเรียนโครงการ และ ปัญหาในชุมชน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114800" cy="4297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411480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การจัดการงานดำเนินงานหมู่บ้าน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ระบบแจ้งและติดตามปัญหาชุมชน: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บันทึกข้อมูลปัญหาของชาวบ้านในพื้นที่ ระบุประเภทปัญหา พิกัดจีพีเอส และระดับความเร่งด่วน พร้อมแนบภาพประกอบ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ระบบลบและแก้ไขข้อมูลที่สมบูรณ์: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รองรับการอัปโหลดไฟล์ภาพ และการลบรูปภาพปัญหาออกจากฝั่งเซิร์ฟเวอร์แบบหมดจด (Clean disk/database)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การลงทะเบียนโครงการอบรม: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ผูกโครงการสุขภาพเข้ากับกลุ่มเป้าหมายในขอบเขตสิทธิ์ของผู้นำเท่านั้น ป้องกันปัญหากลุ่มเป้าหมายนอกสิทธิ์ลงชื่ออบรมซับซ้อน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645920"/>
            <a:ext cx="6400800" cy="4297680"/>
          </a:xfrm>
          <a:prstGeom prst="rect">
            <a:avLst/>
          </a:prstGeom>
          <a:solidFill>
            <a:srgbClr val="191919"/>
          </a:solidFill>
          <a:ln w="19050">
            <a:solidFill>
              <a:srgbClr val="00C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246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EA2"/>
                </a:solidFill>
                <a:latin typeface="Kanit"/>
              </a:defRPr>
            </a:pPr>
            <a:r>
              <a:t>[ กรุณาใส่รูปภาพ Screenshot ที่นี่ ]</a:t>
            </a:r>
          </a:p>
          <a:p>
            <a:pPr algn="ctr">
              <a:spcBef>
                <a:spcPts val="400"/>
              </a:spcBef>
              <a:defRPr sz="1100">
                <a:solidFill>
                  <a:srgbClr val="B4B4B4"/>
                </a:solidFill>
                <a:latin typeface="Kanit"/>
              </a:defRPr>
            </a:pPr>
            <a:r>
              <a:t>แนะนำ: แคปภาพหน้าเว็บ 'ตารางปัญหาชุมชน และ ฟอร์มแก้ไขรูปภาพแนบปัญหา' มาจัดวางครอบในกรอบนี้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CEA2"/>
                </a:solidFill>
                <a:latin typeface="Kanit"/>
              </a:defRPr>
            </a:pPr>
            <a:r>
              <a:t>SMART VILLAGE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Kanit"/>
              </a:defRPr>
            </a:pPr>
            <a:r>
              <a:t>การออกแบบสถาปัตยกรรมฐานข้อมูล (Database Schema)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114800" cy="4297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411480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การจัดหมวดความสัมพันธ์ฐานข้อมูล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Unified Relational Database (PostgreSQL):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แบ่งโครงสร้างสิทธิ์ตามลำดับจากหมู่บ้านขึ้นไปถึงจังหวัด ทำให้การคำนวณผลสรุปรวดเร็ว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ตารางข้อมูลหลัก: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1. villages -&gt; households -&gt; members (ข้อมูลประชากร)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2. health_records -&gt; home_visits (ข้อมูลสุขภาพเชิงลึก)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3. community_issues -&gt; projects (ข้อมูลปัญหาและการพัฒนา)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การออกแบบ Soft-Delete &amp; Auditing: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เก็บบันทึกประวัติการแก้ไขและลบข้อมูล เพื่อรักษารายการสถิติประวัติการเยี่ยมบ้านย้อนหลังได้อย่างปลอดภัย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645920"/>
            <a:ext cx="6400800" cy="4297680"/>
          </a:xfrm>
          <a:prstGeom prst="rect">
            <a:avLst/>
          </a:prstGeom>
          <a:solidFill>
            <a:srgbClr val="191919"/>
          </a:solidFill>
          <a:ln w="19050">
            <a:solidFill>
              <a:srgbClr val="00C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246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EA2"/>
                </a:solidFill>
                <a:latin typeface="Kanit"/>
              </a:defRPr>
            </a:pPr>
            <a:r>
              <a:t>[ กรุณาใส่รูปภาพ Screenshot ที่นี่ ]</a:t>
            </a:r>
          </a:p>
          <a:p>
            <a:pPr algn="ctr">
              <a:spcBef>
                <a:spcPts val="400"/>
              </a:spcBef>
              <a:defRPr sz="1100">
                <a:solidFill>
                  <a:srgbClr val="B4B4B4"/>
                </a:solidFill>
                <a:latin typeface="Kanit"/>
              </a:defRPr>
            </a:pPr>
            <a:r>
              <a:t>แนะนำ: แคปภาพหน้าเว็บ 'ER-Diagram (แสดงความเชื่อมโยงตารางข้อมูลในระบบ)' มาจัดวางครอบในกรอบนี้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CEA2"/>
                </a:solidFill>
                <a:latin typeface="Kanit"/>
              </a:defRPr>
            </a:pPr>
            <a:r>
              <a:t>SMART VILLAGE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Kanit"/>
              </a:defRPr>
            </a:pPr>
            <a:r>
              <a:t>ขั้นตอนการสาธิตระบบ (Live Demo Scenarios)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329184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ฉากทัศน์ 1: แดชบอร์ดตามสิทธิ์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การล็อกอินเข้าระบบตามระดับสิทธิ์: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จำลองการลงทะเบียนผู้ใช้งานระดับจังหวัดเพื่อเห็นภาพรวมของสุขภาพทั้งจังหวัด จากนั้นล็อกอินระดับแอดมินหมู่บ้าน 5 เพื่อดูสถิติครัวเรือนย่อย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การแยกแสดงผลข้อมูล: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แดชบอร์ดสรุปรายได้เฉลี่ย ดัชนีสุขภาวะ (VHI) อัปเดตทันทีตามสิทธิ์การมองเห็น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645920"/>
            <a:ext cx="329184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ฉากทัศน์ 2: การคัดกรองเชิงแผนที่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ค้นหาจุดเสี่ยงผ่านแผนที่: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แสดงพิกัดที่ตั้งครัวเรือนสีส้ม/แดง ดับเบิลคลิกเพื่อเข้าหน้าสมาชิก และเพิ่มบันทึกการคัดกรองสุขภาพใหม่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หมุดพิกัดอัปเดตสี (Dynamic Map):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เมื่อข้อมูลสุขภาพเปลี่ยนไป ค่า VHI ของบ้านหลังนั้นจะเพิ่มขึ้น ส่งผลให้สีหมุดพิกัดบนแผนเปลี่ยนเป็นสีเขียวทันที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4592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645920"/>
            <a:ext cx="329184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9" y="18288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ฉากทัศน์ 3: แก้ไขและลบรูปภาพปัญหา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แจ้งปัญหาชำรุดในหมู่บ้าน: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สร้างเรื่องร้องเรียนปัญหา 'ถนนชำรุด' ระบุขอบเขตและอัปโหลดภาพปัญหาประกอบการทำเรื่อง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แก้ไขสิทธิ์แนบภาพปัญหาสมบูรณ์: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กดแก้ไขข้อมูล ลบรูปภาพเก่าออก และอัปเดตภาพใหม่ เพื่อยืนยันว่าการทำงานของระบบไฟล์และข้อมูลทำงานได้อย่างถูกต้อง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CEA2"/>
                </a:solidFill>
                <a:latin typeface="Kanit"/>
              </a:defRPr>
            </a:pPr>
            <a:r>
              <a:t>SMART VILLAGE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Kanit"/>
              </a:defRPr>
            </a:pPr>
            <a:r>
              <a:t>ผลลัพธ์ของระบบ และ แผนงานพัฒนาต่อยอด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297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73152"/>
          </a:xfrm>
          <a:prstGeom prst="rect">
            <a:avLst/>
          </a:prstGeom>
          <a:solidFill>
            <a:srgbClr val="00C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ประโยชน์และผลสัมฤทธิ์ที่ได้รับ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ลดภาระการเก็บเอกสารแบบกระดาษ: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เปลี่ยนรูปแบบข้อมูลสูญหายง่าย ให้กลายเป็นระบบสืบค้นผ่านฐานข้อมูลได้อย่างปลอดภัยและสะดวกสบาย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ช่วยประเมินแผนงานด้วยตัวเลขชัดเจน: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มีสูตร VHI (Health Index) วิเคราะห์ข้อมูลสุขภาพหมู่บ้าน เพื่อให้ผู้จัดงบประมาณเห็นตัวเลขชี้วัดผลงานที่เข้าใจง่าย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เครื่องมือช่วยเหลือประชาชนตรงจุดเชิงพื้นที่: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สนับสนุนการคัดกรอง และสืบค้นพิกัดพื้นที่กลุ่มเสี่ยงเพื่อส่งอสม.เข้าช่วยเหลือได้รวดเร็ว แม่นยำขึ้น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297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82512" y="1645920"/>
            <a:ext cx="5120640" cy="7315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Kanit"/>
              </a:defRPr>
            </a:pPr>
            <a:r>
              <a:t>แผนงานการพัฒนาในอนาคต (Roadmap)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ระบบพยากรณ์ความเสี่ยงผ่านปัญญาประดิษฐ์: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นำข้อมูลสุขภาพสะสมมาวิเคราะห์ความน่าจะเป็นของโรคไม่ติดต่อเรื้อรัง (NCDs) รายครัวเรือนล่วงหน้า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ระบบแจ้งเตือนทางโทรศัพท์อัจฉริยะ (Line Notification):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แจ้งเตือนเข้าอุปกรณ์มือถือของ อสม. ทันทีเมื่อครบรอบกำหนด 30 วันที่ต้องลงพื้นที่ไปบ้านกลุ่มโรคติดเตียง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- การเชื่อมโยง API ระดับกระทรวงสาธารณสุข: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  <a:latin typeface="Kanit"/>
              </a:defRPr>
            </a:pPr>
            <a:r>
              <a:t>พัฒนา Interface ดึงข้อมูลผู้ป่วยจากแอป อสม.ออนไลน์ เพื่อหลีกเลี่ยงการบันทึกข้อมูลซ้ำซ้อนระดับหมู่บ้าน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0" y="0"/>
            <a:ext cx="3200400" cy="6858000"/>
          </a:xfrm>
          <a:prstGeom prst="rtTriangl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0" y="201168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CEA2"/>
                </a:solidFill>
                <a:latin typeface="Kanit"/>
              </a:defRPr>
            </a:pPr>
            <a:r>
              <a:t>ขอบพระคุณคณะกรรมการ</a:t>
            </a:r>
          </a:p>
          <a:p>
            <a:pPr algn="ctr">
              <a:spcBef>
                <a:spcPts val="1200"/>
              </a:spcBef>
              <a:defRPr sz="1600" b="1">
                <a:solidFill>
                  <a:srgbClr val="FFFFFF"/>
                </a:solidFill>
                <a:latin typeface="Kanit"/>
              </a:defRPr>
            </a:pPr>
            <a:r>
              <a:t>SMART VILLAGE PROJECT: QUESTION &amp; ANSWER</a:t>
            </a:r>
          </a:p>
          <a:p>
            <a:pPr algn="ctr">
              <a:spcBef>
                <a:spcPts val="2000"/>
              </a:spcBef>
              <a:defRPr sz="1200">
                <a:solidFill>
                  <a:srgbClr val="B4B4B4"/>
                </a:solidFill>
                <a:latin typeface="Kanit"/>
              </a:defRPr>
            </a:pPr>
            <a:r>
              <a:t>ช่องทางติดต่อผู้พัฒนา / คณะเทคโนโลยีสารสนเทศและการสื่อสาร มหาวิทยาลัยมหิดล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